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13"/>
  </p:notesMasterIdLst>
  <p:sldIdLst>
    <p:sldId id="256" r:id="rId2"/>
    <p:sldId id="258" r:id="rId3"/>
    <p:sldId id="259" r:id="rId4"/>
    <p:sldId id="260" r:id="rId5"/>
    <p:sldId id="261" r:id="rId6"/>
    <p:sldId id="262" r:id="rId7"/>
    <p:sldId id="265" r:id="rId8"/>
    <p:sldId id="266" r:id="rId9"/>
    <p:sldId id="263"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enal Upadhyay" initials="MU" lastIdx="1" clrIdx="0">
    <p:extLst>
      <p:ext uri="{19B8F6BF-5375-455C-9EA6-DF929625EA0E}">
        <p15:presenceInfo xmlns:p15="http://schemas.microsoft.com/office/powerpoint/2012/main" userId="a02155ce15edd6f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72" autoAdjust="0"/>
    <p:restoredTop sz="94660"/>
  </p:normalViewPr>
  <p:slideViewPr>
    <p:cSldViewPr snapToGrid="0">
      <p:cViewPr varScale="1">
        <p:scale>
          <a:sx n="81" d="100"/>
          <a:sy n="81" d="100"/>
        </p:scale>
        <p:origin x="77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nal Upadhyay" userId="a02155ce15edd6f3" providerId="LiveId" clId="{93B60BA8-E1DE-48B5-9386-B3398DF7E67D}"/>
    <pc:docChg chg="custSel modSld">
      <pc:chgData name="Meenal Upadhyay" userId="a02155ce15edd6f3" providerId="LiveId" clId="{93B60BA8-E1DE-48B5-9386-B3398DF7E67D}" dt="2026-08-11T06:02:21.275" v="10" actId="478"/>
      <pc:docMkLst>
        <pc:docMk/>
      </pc:docMkLst>
      <pc:sldChg chg="delSp mod delAnim">
        <pc:chgData name="Meenal Upadhyay" userId="a02155ce15edd6f3" providerId="LiveId" clId="{93B60BA8-E1DE-48B5-9386-B3398DF7E67D}" dt="2026-08-11T06:01:36.393" v="0" actId="478"/>
        <pc:sldMkLst>
          <pc:docMk/>
          <pc:sldMk cId="1980430893" sldId="256"/>
        </pc:sldMkLst>
        <pc:picChg chg="del">
          <ac:chgData name="Meenal Upadhyay" userId="a02155ce15edd6f3" providerId="LiveId" clId="{93B60BA8-E1DE-48B5-9386-B3398DF7E67D}" dt="2026-08-11T06:01:36.393" v="0" actId="478"/>
          <ac:picMkLst>
            <pc:docMk/>
            <pc:sldMk cId="1980430893" sldId="256"/>
            <ac:picMk id="4" creationId="{8120B4B2-5040-F290-7026-E7B147E581F2}"/>
          </ac:picMkLst>
        </pc:picChg>
      </pc:sldChg>
      <pc:sldChg chg="delSp mod delAnim">
        <pc:chgData name="Meenal Upadhyay" userId="a02155ce15edd6f3" providerId="LiveId" clId="{93B60BA8-E1DE-48B5-9386-B3398DF7E67D}" dt="2026-08-11T06:01:41.044" v="1" actId="478"/>
        <pc:sldMkLst>
          <pc:docMk/>
          <pc:sldMk cId="3251320104" sldId="258"/>
        </pc:sldMkLst>
        <pc:picChg chg="del">
          <ac:chgData name="Meenal Upadhyay" userId="a02155ce15edd6f3" providerId="LiveId" clId="{93B60BA8-E1DE-48B5-9386-B3398DF7E67D}" dt="2026-08-11T06:01:41.044" v="1" actId="478"/>
          <ac:picMkLst>
            <pc:docMk/>
            <pc:sldMk cId="3251320104" sldId="258"/>
            <ac:picMk id="2" creationId="{5821979D-C90F-5643-301E-F0D896002670}"/>
          </ac:picMkLst>
        </pc:picChg>
      </pc:sldChg>
      <pc:sldChg chg="delSp mod delAnim">
        <pc:chgData name="Meenal Upadhyay" userId="a02155ce15edd6f3" providerId="LiveId" clId="{93B60BA8-E1DE-48B5-9386-B3398DF7E67D}" dt="2026-08-11T06:01:45.447" v="2" actId="478"/>
        <pc:sldMkLst>
          <pc:docMk/>
          <pc:sldMk cId="612513794" sldId="259"/>
        </pc:sldMkLst>
        <pc:picChg chg="del">
          <ac:chgData name="Meenal Upadhyay" userId="a02155ce15edd6f3" providerId="LiveId" clId="{93B60BA8-E1DE-48B5-9386-B3398DF7E67D}" dt="2026-08-11T06:01:45.447" v="2" actId="478"/>
          <ac:picMkLst>
            <pc:docMk/>
            <pc:sldMk cId="612513794" sldId="259"/>
            <ac:picMk id="2" creationId="{8E5E581B-764E-FD48-6376-23542A4154B6}"/>
          </ac:picMkLst>
        </pc:picChg>
      </pc:sldChg>
      <pc:sldChg chg="delSp mod delAnim">
        <pc:chgData name="Meenal Upadhyay" userId="a02155ce15edd6f3" providerId="LiveId" clId="{93B60BA8-E1DE-48B5-9386-B3398DF7E67D}" dt="2026-08-11T06:01:51.312" v="3" actId="478"/>
        <pc:sldMkLst>
          <pc:docMk/>
          <pc:sldMk cId="3418519278" sldId="260"/>
        </pc:sldMkLst>
        <pc:picChg chg="del">
          <ac:chgData name="Meenal Upadhyay" userId="a02155ce15edd6f3" providerId="LiveId" clId="{93B60BA8-E1DE-48B5-9386-B3398DF7E67D}" dt="2026-08-11T06:01:51.312" v="3" actId="478"/>
          <ac:picMkLst>
            <pc:docMk/>
            <pc:sldMk cId="3418519278" sldId="260"/>
            <ac:picMk id="2" creationId="{0CED0733-B304-D733-FC21-572712612EF0}"/>
          </ac:picMkLst>
        </pc:picChg>
      </pc:sldChg>
      <pc:sldChg chg="delSp mod delAnim">
        <pc:chgData name="Meenal Upadhyay" userId="a02155ce15edd6f3" providerId="LiveId" clId="{93B60BA8-E1DE-48B5-9386-B3398DF7E67D}" dt="2026-08-11T06:01:54.567" v="4" actId="478"/>
        <pc:sldMkLst>
          <pc:docMk/>
          <pc:sldMk cId="2993334761" sldId="261"/>
        </pc:sldMkLst>
        <pc:picChg chg="del">
          <ac:chgData name="Meenal Upadhyay" userId="a02155ce15edd6f3" providerId="LiveId" clId="{93B60BA8-E1DE-48B5-9386-B3398DF7E67D}" dt="2026-08-11T06:01:54.567" v="4" actId="478"/>
          <ac:picMkLst>
            <pc:docMk/>
            <pc:sldMk cId="2993334761" sldId="261"/>
            <ac:picMk id="3" creationId="{58F2FA4C-B643-432E-9C93-6798A4522968}"/>
          </ac:picMkLst>
        </pc:picChg>
      </pc:sldChg>
      <pc:sldChg chg="delSp mod delAnim">
        <pc:chgData name="Meenal Upadhyay" userId="a02155ce15edd6f3" providerId="LiveId" clId="{93B60BA8-E1DE-48B5-9386-B3398DF7E67D}" dt="2026-08-11T06:01:57.818" v="5" actId="478"/>
        <pc:sldMkLst>
          <pc:docMk/>
          <pc:sldMk cId="3190921795" sldId="262"/>
        </pc:sldMkLst>
        <pc:picChg chg="del">
          <ac:chgData name="Meenal Upadhyay" userId="a02155ce15edd6f3" providerId="LiveId" clId="{93B60BA8-E1DE-48B5-9386-B3398DF7E67D}" dt="2026-08-11T06:01:57.818" v="5" actId="478"/>
          <ac:picMkLst>
            <pc:docMk/>
            <pc:sldMk cId="3190921795" sldId="262"/>
            <ac:picMk id="2" creationId="{948960FF-23A6-F768-427D-468EFE26A8F6}"/>
          </ac:picMkLst>
        </pc:picChg>
      </pc:sldChg>
      <pc:sldChg chg="delSp mod delAnim">
        <pc:chgData name="Meenal Upadhyay" userId="a02155ce15edd6f3" providerId="LiveId" clId="{93B60BA8-E1DE-48B5-9386-B3398DF7E67D}" dt="2026-08-11T06:02:13.530" v="8" actId="478"/>
        <pc:sldMkLst>
          <pc:docMk/>
          <pc:sldMk cId="3495249013" sldId="263"/>
        </pc:sldMkLst>
        <pc:picChg chg="del">
          <ac:chgData name="Meenal Upadhyay" userId="a02155ce15edd6f3" providerId="LiveId" clId="{93B60BA8-E1DE-48B5-9386-B3398DF7E67D}" dt="2026-08-11T06:02:13.530" v="8" actId="478"/>
          <ac:picMkLst>
            <pc:docMk/>
            <pc:sldMk cId="3495249013" sldId="263"/>
            <ac:picMk id="2" creationId="{2C7C19F4-4763-D28D-FF3B-E16389629D0F}"/>
          </ac:picMkLst>
        </pc:picChg>
      </pc:sldChg>
      <pc:sldChg chg="delSp mod delAnim">
        <pc:chgData name="Meenal Upadhyay" userId="a02155ce15edd6f3" providerId="LiveId" clId="{93B60BA8-E1DE-48B5-9386-B3398DF7E67D}" dt="2026-08-11T06:02:06.888" v="6" actId="478"/>
        <pc:sldMkLst>
          <pc:docMk/>
          <pc:sldMk cId="3405508616" sldId="265"/>
        </pc:sldMkLst>
        <pc:picChg chg="del">
          <ac:chgData name="Meenal Upadhyay" userId="a02155ce15edd6f3" providerId="LiveId" clId="{93B60BA8-E1DE-48B5-9386-B3398DF7E67D}" dt="2026-08-11T06:02:06.888" v="6" actId="478"/>
          <ac:picMkLst>
            <pc:docMk/>
            <pc:sldMk cId="3405508616" sldId="265"/>
            <ac:picMk id="2" creationId="{A7021E46-3E61-1B51-BFB9-7BE44AB3CBA7}"/>
          </ac:picMkLst>
        </pc:picChg>
      </pc:sldChg>
      <pc:sldChg chg="delSp mod delAnim">
        <pc:chgData name="Meenal Upadhyay" userId="a02155ce15edd6f3" providerId="LiveId" clId="{93B60BA8-E1DE-48B5-9386-B3398DF7E67D}" dt="2026-08-11T06:02:10.605" v="7" actId="478"/>
        <pc:sldMkLst>
          <pc:docMk/>
          <pc:sldMk cId="57311970" sldId="266"/>
        </pc:sldMkLst>
        <pc:picChg chg="del">
          <ac:chgData name="Meenal Upadhyay" userId="a02155ce15edd6f3" providerId="LiveId" clId="{93B60BA8-E1DE-48B5-9386-B3398DF7E67D}" dt="2026-08-11T06:02:10.605" v="7" actId="478"/>
          <ac:picMkLst>
            <pc:docMk/>
            <pc:sldMk cId="57311970" sldId="266"/>
            <ac:picMk id="2" creationId="{C615761E-25EA-AB1C-0953-0AF36C1E348D}"/>
          </ac:picMkLst>
        </pc:picChg>
      </pc:sldChg>
      <pc:sldChg chg="delSp mod delAnim">
        <pc:chgData name="Meenal Upadhyay" userId="a02155ce15edd6f3" providerId="LiveId" clId="{93B60BA8-E1DE-48B5-9386-B3398DF7E67D}" dt="2026-08-11T06:02:18.168" v="9" actId="478"/>
        <pc:sldMkLst>
          <pc:docMk/>
          <pc:sldMk cId="3724190820" sldId="267"/>
        </pc:sldMkLst>
        <pc:picChg chg="del">
          <ac:chgData name="Meenal Upadhyay" userId="a02155ce15edd6f3" providerId="LiveId" clId="{93B60BA8-E1DE-48B5-9386-B3398DF7E67D}" dt="2026-08-11T06:02:18.168" v="9" actId="478"/>
          <ac:picMkLst>
            <pc:docMk/>
            <pc:sldMk cId="3724190820" sldId="267"/>
            <ac:picMk id="2" creationId="{D31F6F53-382B-7AD6-C5E6-781C9D38245B}"/>
          </ac:picMkLst>
        </pc:picChg>
      </pc:sldChg>
      <pc:sldChg chg="delSp mod delAnim">
        <pc:chgData name="Meenal Upadhyay" userId="a02155ce15edd6f3" providerId="LiveId" clId="{93B60BA8-E1DE-48B5-9386-B3398DF7E67D}" dt="2026-08-11T06:02:21.275" v="10" actId="478"/>
        <pc:sldMkLst>
          <pc:docMk/>
          <pc:sldMk cId="2759205239" sldId="268"/>
        </pc:sldMkLst>
        <pc:picChg chg="del">
          <ac:chgData name="Meenal Upadhyay" userId="a02155ce15edd6f3" providerId="LiveId" clId="{93B60BA8-E1DE-48B5-9386-B3398DF7E67D}" dt="2026-08-11T06:02:21.275" v="10" actId="478"/>
          <ac:picMkLst>
            <pc:docMk/>
            <pc:sldMk cId="2759205239" sldId="268"/>
            <ac:picMk id="2" creationId="{213BF605-0570-054E-DB3C-F5C4D2A0E14F}"/>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6-08-04T17:54:54.649" idx="1">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7EFDD-7E77-4D04-A1EA-4A3B68486DED}" type="datetimeFigureOut">
              <a:rPr lang="en-IN" smtClean="0"/>
              <a:t>11-08-2026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4FC43F-4FF3-4214-8EBA-2F3B51165B92}" type="slidenum">
              <a:rPr lang="en-IN" smtClean="0"/>
              <a:t>‹#›</a:t>
            </a:fld>
            <a:endParaRPr lang="en-IN"/>
          </a:p>
        </p:txBody>
      </p:sp>
    </p:spTree>
    <p:extLst>
      <p:ext uri="{BB962C8B-B14F-4D97-AF65-F5344CB8AC3E}">
        <p14:creationId xmlns:p14="http://schemas.microsoft.com/office/powerpoint/2010/main" val="328207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4FC43F-4FF3-4214-8EBA-2F3B51165B92}" type="slidenum">
              <a:rPr lang="en-IN" smtClean="0"/>
              <a:t>1</a:t>
            </a:fld>
            <a:endParaRPr lang="en-IN"/>
          </a:p>
        </p:txBody>
      </p:sp>
    </p:spTree>
    <p:extLst>
      <p:ext uri="{BB962C8B-B14F-4D97-AF65-F5344CB8AC3E}">
        <p14:creationId xmlns:p14="http://schemas.microsoft.com/office/powerpoint/2010/main" val="1730420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1347952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555398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3383240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29D05E-B374-436E-B53C-45B4C58642C5}"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1470119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29D05E-B374-436E-B53C-45B4C58642C5}" type="datetimeFigureOut">
              <a:rPr lang="en-IN" smtClean="0"/>
              <a:t>11-08-2026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3945627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29D05E-B374-436E-B53C-45B4C58642C5}" type="datetimeFigureOut">
              <a:rPr lang="en-IN" smtClean="0"/>
              <a:t>11-08-2026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2072950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29D05E-B374-436E-B53C-45B4C58642C5}" type="datetimeFigureOut">
              <a:rPr lang="en-IN" smtClean="0"/>
              <a:t>11-08-2026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4018643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29D05E-B374-436E-B53C-45B4C58642C5}"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781848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CDACDA-6DB2-4D50-A205-AD215F452DC4}" type="slidenum">
              <a:rPr lang="en-IN" smtClean="0"/>
              <a:t>‹#›</a:t>
            </a:fld>
            <a:endParaRPr lang="en-IN"/>
          </a:p>
        </p:txBody>
      </p:sp>
      <p:sp>
        <p:nvSpPr>
          <p:cNvPr id="5" name="Date Placeholder 4"/>
          <p:cNvSpPr>
            <a:spLocks noGrp="1"/>
          </p:cNvSpPr>
          <p:nvPr>
            <p:ph type="dt" sz="half" idx="10"/>
          </p:nvPr>
        </p:nvSpPr>
        <p:spPr/>
        <p:txBody>
          <a:bodyPr/>
          <a:lstStyle/>
          <a:p>
            <a:fld id="{EA29D05E-B374-436E-B53C-45B4C58642C5}" type="datetimeFigureOut">
              <a:rPr lang="en-IN" smtClean="0"/>
              <a:t>11-08-2026</a:t>
            </a:fld>
            <a:endParaRPr lang="en-IN"/>
          </a:p>
        </p:txBody>
      </p:sp>
    </p:spTree>
    <p:extLst>
      <p:ext uri="{BB962C8B-B14F-4D97-AF65-F5344CB8AC3E}">
        <p14:creationId xmlns:p14="http://schemas.microsoft.com/office/powerpoint/2010/main" val="14459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3706922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32184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3851492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44410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2914211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3310485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29D05E-B374-436E-B53C-45B4C58642C5}"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CDACDA-6DB2-4D50-A205-AD215F452DC4}" type="slidenum">
              <a:rPr lang="en-IN" smtClean="0"/>
              <a:t>‹#›</a:t>
            </a:fld>
            <a:endParaRPr lang="en-IN"/>
          </a:p>
        </p:txBody>
      </p:sp>
    </p:spTree>
    <p:extLst>
      <p:ext uri="{BB962C8B-B14F-4D97-AF65-F5344CB8AC3E}">
        <p14:creationId xmlns:p14="http://schemas.microsoft.com/office/powerpoint/2010/main" val="269173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A29D05E-B374-436E-B53C-45B4C58642C5}" type="datetimeFigureOut">
              <a:rPr lang="en-IN" smtClean="0"/>
              <a:t>11-08-2026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1CDACDA-6DB2-4D50-A205-AD215F452DC4}" type="slidenum">
              <a:rPr lang="en-IN" smtClean="0"/>
              <a:t>‹#›</a:t>
            </a:fld>
            <a:endParaRPr lang="en-IN"/>
          </a:p>
        </p:txBody>
      </p:sp>
    </p:spTree>
    <p:extLst>
      <p:ext uri="{BB962C8B-B14F-4D97-AF65-F5344CB8AC3E}">
        <p14:creationId xmlns:p14="http://schemas.microsoft.com/office/powerpoint/2010/main" val="3002319576"/>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7.xml"/><Relationship Id="rId5" Type="http://schemas.openxmlformats.org/officeDocument/2006/relationships/image" Target="../media/image4.tmp"/><Relationship Id="rId4" Type="http://schemas.openxmlformats.org/officeDocument/2006/relationships/image" Target="../media/image3.tmp"/></Relationships>
</file>

<file path=ppt/slides/_rels/slide8.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7.xml"/><Relationship Id="rId5" Type="http://schemas.openxmlformats.org/officeDocument/2006/relationships/image" Target="../media/image8.tmp"/><Relationship Id="rId4" Type="http://schemas.openxmlformats.org/officeDocument/2006/relationships/image" Target="../media/image7.tmp"/></Relationships>
</file>

<file path=ppt/slides/_rels/slide9.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DC07-A971-4619-4374-F32E8F5134D7}"/>
              </a:ext>
            </a:extLst>
          </p:cNvPr>
          <p:cNvSpPr>
            <a:spLocks noGrp="1"/>
          </p:cNvSpPr>
          <p:nvPr>
            <p:ph type="ctrTitle"/>
          </p:nvPr>
        </p:nvSpPr>
        <p:spPr/>
        <p:txBody>
          <a:bodyPr/>
          <a:lstStyle/>
          <a:p>
            <a:pPr algn="ctr"/>
            <a:r>
              <a:rPr lang="en-IN" sz="2400" b="1" dirty="0">
                <a:solidFill>
                  <a:schemeClr val="tx1">
                    <a:lumMod val="95000"/>
                    <a:lumOff val="5000"/>
                  </a:schemeClr>
                </a:solidFill>
                <a:latin typeface="Arial" panose="020B0604020202020204" pitchFamily="34" charset="0"/>
                <a:cs typeface="Arial" panose="020B0604020202020204" pitchFamily="34" charset="0"/>
              </a:rPr>
              <a:t>Enterprise Data Architecture &amp; Reconciliation</a:t>
            </a:r>
            <a:br>
              <a:rPr lang="en-IN" sz="2400" b="1" dirty="0">
                <a:solidFill>
                  <a:schemeClr val="tx1">
                    <a:lumMod val="95000"/>
                    <a:lumOff val="5000"/>
                  </a:schemeClr>
                </a:solidFill>
                <a:latin typeface="Arial" panose="020B0604020202020204" pitchFamily="34" charset="0"/>
                <a:cs typeface="Arial" panose="020B0604020202020204" pitchFamily="34" charset="0"/>
              </a:rPr>
            </a:br>
            <a:br>
              <a:rPr lang="en-IN" sz="2400" b="1" dirty="0">
                <a:solidFill>
                  <a:schemeClr val="tx1">
                    <a:lumMod val="95000"/>
                    <a:lumOff val="5000"/>
                  </a:schemeClr>
                </a:solidFill>
                <a:latin typeface="Arial" panose="020B0604020202020204" pitchFamily="34" charset="0"/>
                <a:cs typeface="Arial" panose="020B0604020202020204" pitchFamily="34" charset="0"/>
              </a:rPr>
            </a:br>
            <a:r>
              <a:rPr lang="en-IN" sz="2000" b="1" dirty="0">
                <a:solidFill>
                  <a:schemeClr val="tx1"/>
                </a:solidFill>
                <a:latin typeface="Arial" panose="020B0604020202020204" pitchFamily="34" charset="0"/>
                <a:cs typeface="Arial" panose="020B0604020202020204" pitchFamily="34" charset="0"/>
              </a:rPr>
              <a:t>Data Analytics Internship Project</a:t>
            </a:r>
            <a:br>
              <a:rPr lang="en-IN" sz="2000" b="1" dirty="0">
                <a:solidFill>
                  <a:schemeClr val="tx1"/>
                </a:solidFill>
                <a:latin typeface="Arial" panose="020B0604020202020204" pitchFamily="34" charset="0"/>
                <a:cs typeface="Arial" panose="020B0604020202020204" pitchFamily="34" charset="0"/>
              </a:rPr>
            </a:br>
            <a:br>
              <a:rPr lang="en-IN" sz="2000" b="1" dirty="0">
                <a:latin typeface="Arial" panose="020B0604020202020204" pitchFamily="34" charset="0"/>
                <a:cs typeface="Arial" panose="020B0604020202020204" pitchFamily="34" charset="0"/>
              </a:rPr>
            </a:br>
            <a:endParaRPr lang="en-IN" sz="20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F8DDF53B-2E89-12B0-70B1-43865412777A}"/>
              </a:ext>
            </a:extLst>
          </p:cNvPr>
          <p:cNvSpPr>
            <a:spLocks noGrp="1"/>
          </p:cNvSpPr>
          <p:nvPr>
            <p:ph type="subTitle" idx="1"/>
          </p:nvPr>
        </p:nvSpPr>
        <p:spPr>
          <a:xfrm>
            <a:off x="3815089" y="5191476"/>
            <a:ext cx="7766936" cy="1096899"/>
          </a:xfrm>
        </p:spPr>
        <p:txBody>
          <a:bodyPr>
            <a:normAutofit/>
          </a:bodyPr>
          <a:lstStyle/>
          <a:p>
            <a:pPr algn="ctr"/>
            <a:r>
              <a:rPr lang="en-IN" sz="2400" b="1" dirty="0">
                <a:solidFill>
                  <a:schemeClr val="tx1"/>
                </a:solidFill>
                <a:latin typeface="Arial" panose="020B0604020202020204" pitchFamily="34" charset="0"/>
                <a:cs typeface="Arial" panose="020B0604020202020204" pitchFamily="34" charset="0"/>
              </a:rPr>
              <a:t>Submitted by: </a:t>
            </a:r>
          </a:p>
          <a:p>
            <a:pPr algn="ctr"/>
            <a:r>
              <a:rPr lang="en-IN" sz="2400" b="1" dirty="0">
                <a:solidFill>
                  <a:schemeClr val="tx1"/>
                </a:solidFill>
                <a:latin typeface="Arial" panose="020B0604020202020204" pitchFamily="34" charset="0"/>
                <a:cs typeface="Arial" panose="020B0604020202020204" pitchFamily="34" charset="0"/>
              </a:rPr>
              <a:t>Meenal Upadhyay</a:t>
            </a:r>
          </a:p>
        </p:txBody>
      </p:sp>
    </p:spTree>
    <p:extLst>
      <p:ext uri="{BB962C8B-B14F-4D97-AF65-F5344CB8AC3E}">
        <p14:creationId xmlns:p14="http://schemas.microsoft.com/office/powerpoint/2010/main" val="1980430893"/>
      </p:ext>
    </p:extLst>
  </p:cSld>
  <p:clrMapOvr>
    <a:masterClrMapping/>
  </p:clrMapOvr>
  <mc:AlternateContent xmlns:mc="http://schemas.openxmlformats.org/markup-compatibility/2006" xmlns:p14="http://schemas.microsoft.com/office/powerpoint/2010/main">
    <mc:Choice Requires="p14">
      <p:transition spd="slow" p14:dur="2000" advTm="15638"/>
    </mc:Choice>
    <mc:Fallback xmlns="">
      <p:transition spd="slow" advTm="1563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F13CBB-2A97-E68E-D3F8-06F065E04D39}"/>
              </a:ext>
            </a:extLst>
          </p:cNvPr>
          <p:cNvSpPr txBox="1"/>
          <p:nvPr/>
        </p:nvSpPr>
        <p:spPr>
          <a:xfrm>
            <a:off x="537326" y="302359"/>
            <a:ext cx="9973559" cy="6555641"/>
          </a:xfrm>
          <a:prstGeom prst="rect">
            <a:avLst/>
          </a:prstGeom>
          <a:noFill/>
        </p:spPr>
        <p:txBody>
          <a:bodyPr wrap="square">
            <a:spAutoFit/>
          </a:bodyPr>
          <a:lstStyle/>
          <a:p>
            <a:pPr>
              <a:buNone/>
            </a:pPr>
            <a:r>
              <a:rPr lang="en-US" sz="2000" b="1" dirty="0">
                <a:latin typeface="Arial" panose="020B0604020202020204" pitchFamily="34" charset="0"/>
                <a:cs typeface="Arial" panose="020B0604020202020204" pitchFamily="34" charset="0"/>
              </a:rPr>
              <a:t>Project Problem Statement</a:t>
            </a:r>
          </a:p>
          <a:p>
            <a:pPr>
              <a:buNone/>
            </a:pPr>
            <a:endParaRPr lang="en-US" sz="2000" b="1" dirty="0">
              <a:latin typeface="Arial" panose="020B0604020202020204" pitchFamily="34" charset="0"/>
              <a:cs typeface="Arial" panose="020B0604020202020204" pitchFamily="34" charset="0"/>
            </a:endParaRPr>
          </a:p>
          <a:p>
            <a:pPr>
              <a:buNone/>
            </a:pPr>
            <a:r>
              <a:rPr lang="en-US" sz="2000" dirty="0">
                <a:latin typeface="Arial" panose="020B0604020202020204" pitchFamily="34" charset="0"/>
                <a:cs typeface="Arial" panose="020B0604020202020204" pitchFamily="34" charset="0"/>
              </a:rPr>
              <a:t>A FinTech organization stores its business data across multiple disconnected systems, making it difficult to generate accurate financial reports and audit-ready insights.</a:t>
            </a:r>
          </a:p>
          <a:p>
            <a:pPr>
              <a:buNone/>
            </a:pPr>
            <a:endParaRPr lang="en-US" sz="2000" dirty="0">
              <a:latin typeface="Arial" panose="020B0604020202020204" pitchFamily="34" charset="0"/>
              <a:cs typeface="Arial" panose="020B0604020202020204" pitchFamily="34" charset="0"/>
            </a:endParaRPr>
          </a:p>
          <a:p>
            <a:pPr>
              <a:buNone/>
            </a:pPr>
            <a:r>
              <a:rPr lang="en-US" sz="2000" b="1" dirty="0">
                <a:latin typeface="Arial" panose="020B0604020202020204" pitchFamily="34" charset="0"/>
                <a:cs typeface="Arial" panose="020B0604020202020204" pitchFamily="34" charset="0"/>
              </a:rPr>
              <a:t>Challenges</a:t>
            </a:r>
          </a:p>
          <a:p>
            <a:pPr>
              <a:buNone/>
            </a:pP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User records contain multiple historical entries, making it difficult to identify currently active users.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Transaction data is stored as unstructured server logs that require extraction and cleaning.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Daily exchange rate data contains missing values for weekends.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Data from different sources must be integrated into a single, reliable dataset.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Business stakeholders require an interactive dashboard to monitor revenue trends and customer performance. </a:t>
            </a: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buNone/>
            </a:pPr>
            <a:r>
              <a:rPr lang="en-US" sz="2000" b="1" dirty="0">
                <a:latin typeface="Arial" panose="020B0604020202020204" pitchFamily="34" charset="0"/>
                <a:cs typeface="Arial" panose="020B0604020202020204" pitchFamily="34" charset="0"/>
              </a:rPr>
              <a:t>Project Objective</a:t>
            </a:r>
          </a:p>
          <a:p>
            <a:pPr>
              <a:buNone/>
            </a:pPr>
            <a:endParaRPr lang="en-US" sz="2000" b="1" dirty="0">
              <a:latin typeface="Arial" panose="020B0604020202020204" pitchFamily="34" charset="0"/>
              <a:cs typeface="Arial" panose="020B0604020202020204" pitchFamily="34" charset="0"/>
            </a:endParaRPr>
          </a:p>
          <a:p>
            <a:pPr>
              <a:buNone/>
            </a:pPr>
            <a:r>
              <a:rPr lang="en-US" sz="2000" dirty="0">
                <a:latin typeface="Arial" panose="020B0604020202020204" pitchFamily="34" charset="0"/>
                <a:cs typeface="Arial" panose="020B0604020202020204" pitchFamily="34" charset="0"/>
              </a:rPr>
              <a:t>To build an automated data analytics pipeline that extracts, cleans, reconciles, and integrates data from multiple sources, then creates an interactive Power BI dashboard for financial analysis and decision-making.</a:t>
            </a:r>
          </a:p>
        </p:txBody>
      </p:sp>
    </p:spTree>
    <p:extLst>
      <p:ext uri="{BB962C8B-B14F-4D97-AF65-F5344CB8AC3E}">
        <p14:creationId xmlns:p14="http://schemas.microsoft.com/office/powerpoint/2010/main" val="3251320104"/>
      </p:ext>
    </p:extLst>
  </p:cSld>
  <p:clrMapOvr>
    <a:masterClrMapping/>
  </p:clrMapOvr>
  <mc:AlternateContent xmlns:mc="http://schemas.openxmlformats.org/markup-compatibility/2006" xmlns:p14="http://schemas.microsoft.com/office/powerpoint/2010/main">
    <mc:Choice Requires="p14">
      <p:transition spd="slow" p14:dur="2000" advTm="15900"/>
    </mc:Choice>
    <mc:Fallback xmlns="">
      <p:transition spd="slow" advTm="159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C90CCA-AF5B-9793-F460-515801211614}"/>
              </a:ext>
            </a:extLst>
          </p:cNvPr>
          <p:cNvSpPr txBox="1"/>
          <p:nvPr/>
        </p:nvSpPr>
        <p:spPr>
          <a:xfrm>
            <a:off x="1119433" y="425227"/>
            <a:ext cx="10268146" cy="6124754"/>
          </a:xfrm>
          <a:prstGeom prst="rect">
            <a:avLst/>
          </a:prstGeom>
          <a:noFill/>
        </p:spPr>
        <p:txBody>
          <a:bodyPr wrap="square">
            <a:spAutoFit/>
          </a:bodyPr>
          <a:lstStyle/>
          <a:p>
            <a:pPr>
              <a:buNone/>
            </a:pPr>
            <a:r>
              <a:rPr lang="en-US" sz="2400" b="1" dirty="0">
                <a:latin typeface="Arial" panose="020B0604020202020204" pitchFamily="34" charset="0"/>
                <a:cs typeface="Arial" panose="020B0604020202020204" pitchFamily="34" charset="0"/>
              </a:rPr>
              <a:t>Project Solution</a:t>
            </a:r>
          </a:p>
          <a:p>
            <a:pPr>
              <a:buNone/>
            </a:pPr>
            <a:endParaRPr lang="en-US" sz="2000" b="1" dirty="0">
              <a:latin typeface="Arial" panose="020B0604020202020204" pitchFamily="34" charset="0"/>
              <a:cs typeface="Arial" panose="020B0604020202020204" pitchFamily="34" charset="0"/>
            </a:endParaRPr>
          </a:p>
          <a:p>
            <a:pPr>
              <a:buNone/>
            </a:pPr>
            <a:r>
              <a:rPr lang="en-US" sz="2000" dirty="0">
                <a:latin typeface="Arial" panose="020B0604020202020204" pitchFamily="34" charset="0"/>
                <a:cs typeface="Arial" panose="020B0604020202020204" pitchFamily="34" charset="0"/>
              </a:rPr>
              <a:t>To solve the business problem, an end-to-end data analytics pipeline was developed using Python and Power BI. The solution involved extracting, cleaning, transforming, merging, and visualizing data from multiple sources.</a:t>
            </a:r>
          </a:p>
          <a:p>
            <a:pPr>
              <a:buNone/>
            </a:pPr>
            <a:endParaRPr lang="en-US" sz="2000" dirty="0">
              <a:latin typeface="Arial" panose="020B0604020202020204" pitchFamily="34" charset="0"/>
              <a:cs typeface="Arial" panose="020B0604020202020204" pitchFamily="34" charset="0"/>
            </a:endParaRPr>
          </a:p>
          <a:p>
            <a:pPr>
              <a:buNone/>
            </a:pPr>
            <a:r>
              <a:rPr lang="en-US" sz="2400" b="1" dirty="0">
                <a:latin typeface="Arial" panose="020B0604020202020204" pitchFamily="34" charset="0"/>
                <a:cs typeface="Arial" panose="020B0604020202020204" pitchFamily="34" charset="0"/>
              </a:rPr>
              <a:t>Project Workflow</a:t>
            </a:r>
          </a:p>
          <a:p>
            <a:pPr>
              <a:buNone/>
            </a:pPr>
            <a:endParaRPr lang="en-US" sz="2400" b="1" dirty="0">
              <a:latin typeface="Arial" panose="020B0604020202020204" pitchFamily="34" charset="0"/>
              <a:cs typeface="Arial" panose="020B0604020202020204" pitchFamily="34" charset="0"/>
            </a:endParaRPr>
          </a:p>
          <a:p>
            <a:pPr>
              <a:buNone/>
            </a:pPr>
            <a:r>
              <a:rPr lang="en-US" sz="2000" b="1" dirty="0">
                <a:latin typeface="Arial" panose="020B0604020202020204" pitchFamily="34" charset="0"/>
                <a:cs typeface="Arial" panose="020B0604020202020204" pitchFamily="34" charset="0"/>
              </a:rPr>
              <a:t>Phase 1: SQL Extraction</a:t>
            </a:r>
          </a:p>
          <a:p>
            <a:pPr>
              <a:buNone/>
            </a:pP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Connected to the SQLite database.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Retrieved the latest records for each user.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Filtered only active users using SQL queries. </a:t>
            </a: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buNone/>
            </a:pPr>
            <a:r>
              <a:rPr lang="en-US" sz="2000" b="1" dirty="0">
                <a:latin typeface="Arial" panose="020B0604020202020204" pitchFamily="34" charset="0"/>
                <a:cs typeface="Arial" panose="020B0604020202020204" pitchFamily="34" charset="0"/>
              </a:rPr>
              <a:t>Phase 2: Data Cleaning &amp; Regex Extraction</a:t>
            </a:r>
          </a:p>
          <a:p>
            <a:pPr>
              <a:buNone/>
            </a:pP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Loaded server log data.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Removed invalid (ERROR) records.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Extracted Date, User ID, Product ID, and Euro Value using Regular Expressions. </a:t>
            </a:r>
          </a:p>
        </p:txBody>
      </p:sp>
    </p:spTree>
    <p:extLst>
      <p:ext uri="{BB962C8B-B14F-4D97-AF65-F5344CB8AC3E}">
        <p14:creationId xmlns:p14="http://schemas.microsoft.com/office/powerpoint/2010/main" val="612513794"/>
      </p:ext>
    </p:extLst>
  </p:cSld>
  <p:clrMapOvr>
    <a:masterClrMapping/>
  </p:clrMapOvr>
  <mc:AlternateContent xmlns:mc="http://schemas.openxmlformats.org/markup-compatibility/2006" xmlns:p14="http://schemas.microsoft.com/office/powerpoint/2010/main">
    <mc:Choice Requires="p14">
      <p:transition spd="slow" p14:dur="2000" advTm="10307"/>
    </mc:Choice>
    <mc:Fallback xmlns="">
      <p:transition spd="slow" advTm="1030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B7306D-62E9-BA29-213E-2B014D5EE755}"/>
              </a:ext>
            </a:extLst>
          </p:cNvPr>
          <p:cNvSpPr txBox="1"/>
          <p:nvPr/>
        </p:nvSpPr>
        <p:spPr>
          <a:xfrm>
            <a:off x="575035" y="433633"/>
            <a:ext cx="9719035" cy="3785652"/>
          </a:xfrm>
          <a:prstGeom prst="rect">
            <a:avLst/>
          </a:prstGeom>
          <a:noFill/>
        </p:spPr>
        <p:txBody>
          <a:bodyPr wrap="square">
            <a:spAutoFit/>
          </a:bodyPr>
          <a:lstStyle/>
          <a:p>
            <a:pPr>
              <a:buNone/>
            </a:pPr>
            <a:r>
              <a:rPr lang="en-US" sz="2000" b="1" dirty="0">
                <a:latin typeface="Arial" panose="020B0604020202020204" pitchFamily="34" charset="0"/>
                <a:cs typeface="Arial" panose="020B0604020202020204" pitchFamily="34" charset="0"/>
              </a:rPr>
              <a:t>Phase 3: Financial Reconciliation</a:t>
            </a:r>
          </a:p>
          <a:p>
            <a:pPr>
              <a:buNone/>
            </a:pP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Loaded daily exchange rate data.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Filled missing weekend exchange rates using forward fill.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Merged all datasets.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Calculated USD Revenue from Euro values. </a:t>
            </a: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buNone/>
            </a:pPr>
            <a:r>
              <a:rPr lang="en-US" sz="2000" b="1" dirty="0">
                <a:latin typeface="Arial" panose="020B0604020202020204" pitchFamily="34" charset="0"/>
                <a:cs typeface="Arial" panose="020B0604020202020204" pitchFamily="34" charset="0"/>
              </a:rPr>
              <a:t>Phase 4: Dashboard Creation</a:t>
            </a:r>
          </a:p>
          <a:p>
            <a:pPr>
              <a:buNone/>
            </a:pP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Exported the final cleaned dataset.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Built an interactive Power BI dashboard to visualize financial performance and customer insights.</a:t>
            </a:r>
          </a:p>
        </p:txBody>
      </p:sp>
    </p:spTree>
    <p:extLst>
      <p:ext uri="{BB962C8B-B14F-4D97-AF65-F5344CB8AC3E}">
        <p14:creationId xmlns:p14="http://schemas.microsoft.com/office/powerpoint/2010/main" val="3418519278"/>
      </p:ext>
    </p:extLst>
  </p:cSld>
  <p:clrMapOvr>
    <a:masterClrMapping/>
  </p:clrMapOvr>
  <mc:AlternateContent xmlns:mc="http://schemas.openxmlformats.org/markup-compatibility/2006" xmlns:p14="http://schemas.microsoft.com/office/powerpoint/2010/main">
    <mc:Choice Requires="p14">
      <p:transition spd="slow" p14:dur="2000" advTm="10876"/>
    </mc:Choice>
    <mc:Fallback xmlns="">
      <p:transition spd="slow" advTm="1087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876274E-D99F-2A07-7447-34723FAD15F9}"/>
              </a:ext>
            </a:extLst>
          </p:cNvPr>
          <p:cNvGraphicFramePr>
            <a:graphicFrameLocks noGrp="1"/>
          </p:cNvGraphicFramePr>
          <p:nvPr>
            <p:extLst>
              <p:ext uri="{D42A27DB-BD31-4B8C-83A1-F6EECF244321}">
                <p14:modId xmlns:p14="http://schemas.microsoft.com/office/powerpoint/2010/main" val="1738695215"/>
              </p:ext>
            </p:extLst>
          </p:nvPr>
        </p:nvGraphicFramePr>
        <p:xfrm>
          <a:off x="819265" y="2017982"/>
          <a:ext cx="8596312" cy="3657600"/>
        </p:xfrm>
        <a:graphic>
          <a:graphicData uri="http://schemas.openxmlformats.org/drawingml/2006/table">
            <a:tbl>
              <a:tblPr/>
              <a:tblGrid>
                <a:gridCol w="4298156">
                  <a:extLst>
                    <a:ext uri="{9D8B030D-6E8A-4147-A177-3AD203B41FA5}">
                      <a16:colId xmlns:a16="http://schemas.microsoft.com/office/drawing/2014/main" val="2398659265"/>
                    </a:ext>
                  </a:extLst>
                </a:gridCol>
                <a:gridCol w="4298156">
                  <a:extLst>
                    <a:ext uri="{9D8B030D-6E8A-4147-A177-3AD203B41FA5}">
                      <a16:colId xmlns:a16="http://schemas.microsoft.com/office/drawing/2014/main" val="4005571739"/>
                    </a:ext>
                  </a:extLst>
                </a:gridCol>
              </a:tblGrid>
              <a:tr h="0">
                <a:tc>
                  <a:txBody>
                    <a:bodyPr/>
                    <a:lstStyle/>
                    <a:p>
                      <a:pPr>
                        <a:buNone/>
                      </a:pPr>
                      <a:r>
                        <a:rPr lang="en-IN" b="1"/>
                        <a:t>Tool</a:t>
                      </a:r>
                      <a:endParaRPr lang="en-IN"/>
                    </a:p>
                  </a:txBody>
                  <a:tcPr anchor="ctr">
                    <a:lnL>
                      <a:noFill/>
                    </a:lnL>
                    <a:lnR>
                      <a:noFill/>
                    </a:lnR>
                    <a:lnT>
                      <a:noFill/>
                    </a:lnT>
                    <a:lnB>
                      <a:noFill/>
                    </a:lnB>
                    <a:noFill/>
                  </a:tcPr>
                </a:tc>
                <a:tc>
                  <a:txBody>
                    <a:bodyPr/>
                    <a:lstStyle/>
                    <a:p>
                      <a:pPr>
                        <a:buNone/>
                      </a:pPr>
                      <a:r>
                        <a:rPr lang="en-IN" b="1" dirty="0"/>
                        <a:t>Purpose</a:t>
                      </a:r>
                      <a:endParaRPr lang="en-IN" dirty="0"/>
                    </a:p>
                  </a:txBody>
                  <a:tcPr anchor="ctr">
                    <a:lnL>
                      <a:noFill/>
                    </a:lnL>
                    <a:lnR>
                      <a:noFill/>
                    </a:lnR>
                    <a:lnT>
                      <a:noFill/>
                    </a:lnT>
                    <a:lnB>
                      <a:noFill/>
                    </a:lnB>
                    <a:noFill/>
                  </a:tcPr>
                </a:tc>
                <a:extLst>
                  <a:ext uri="{0D108BD9-81ED-4DB2-BD59-A6C34878D82A}">
                    <a16:rowId xmlns:a16="http://schemas.microsoft.com/office/drawing/2014/main" val="1267148026"/>
                  </a:ext>
                </a:extLst>
              </a:tr>
              <a:tr h="0">
                <a:tc>
                  <a:txBody>
                    <a:bodyPr/>
                    <a:lstStyle/>
                    <a:p>
                      <a:pPr>
                        <a:buNone/>
                      </a:pPr>
                      <a:r>
                        <a:rPr lang="en-IN" b="1"/>
                        <a:t>Python</a:t>
                      </a:r>
                      <a:endParaRPr lang="en-IN"/>
                    </a:p>
                  </a:txBody>
                  <a:tcPr anchor="ctr">
                    <a:lnL>
                      <a:noFill/>
                    </a:lnL>
                    <a:lnR>
                      <a:noFill/>
                    </a:lnR>
                    <a:lnT>
                      <a:noFill/>
                    </a:lnT>
                    <a:lnB>
                      <a:noFill/>
                    </a:lnB>
                    <a:noFill/>
                  </a:tcPr>
                </a:tc>
                <a:tc>
                  <a:txBody>
                    <a:bodyPr/>
                    <a:lstStyle/>
                    <a:p>
                      <a:pPr>
                        <a:buNone/>
                      </a:pPr>
                      <a:r>
                        <a:rPr lang="en-IN"/>
                        <a:t>Data extraction, transformation, and automation</a:t>
                      </a:r>
                    </a:p>
                  </a:txBody>
                  <a:tcPr anchor="ctr">
                    <a:lnL>
                      <a:noFill/>
                    </a:lnL>
                    <a:lnR>
                      <a:noFill/>
                    </a:lnR>
                    <a:lnT>
                      <a:noFill/>
                    </a:lnT>
                    <a:lnB>
                      <a:noFill/>
                    </a:lnB>
                    <a:noFill/>
                  </a:tcPr>
                </a:tc>
                <a:extLst>
                  <a:ext uri="{0D108BD9-81ED-4DB2-BD59-A6C34878D82A}">
                    <a16:rowId xmlns:a16="http://schemas.microsoft.com/office/drawing/2014/main" val="1547659046"/>
                  </a:ext>
                </a:extLst>
              </a:tr>
              <a:tr h="0">
                <a:tc>
                  <a:txBody>
                    <a:bodyPr/>
                    <a:lstStyle/>
                    <a:p>
                      <a:pPr>
                        <a:buNone/>
                      </a:pPr>
                      <a:r>
                        <a:rPr lang="en-IN" b="1"/>
                        <a:t>Pandas</a:t>
                      </a:r>
                      <a:endParaRPr lang="en-IN"/>
                    </a:p>
                  </a:txBody>
                  <a:tcPr anchor="ctr">
                    <a:lnL>
                      <a:noFill/>
                    </a:lnL>
                    <a:lnR>
                      <a:noFill/>
                    </a:lnR>
                    <a:lnT>
                      <a:noFill/>
                    </a:lnT>
                    <a:lnB>
                      <a:noFill/>
                    </a:lnB>
                    <a:noFill/>
                  </a:tcPr>
                </a:tc>
                <a:tc>
                  <a:txBody>
                    <a:bodyPr/>
                    <a:lstStyle/>
                    <a:p>
                      <a:pPr>
                        <a:buNone/>
                      </a:pPr>
                      <a:r>
                        <a:rPr lang="en-US"/>
                        <a:t>Data cleaning, manipulation, and merging</a:t>
                      </a:r>
                    </a:p>
                  </a:txBody>
                  <a:tcPr anchor="ctr">
                    <a:lnL>
                      <a:noFill/>
                    </a:lnL>
                    <a:lnR>
                      <a:noFill/>
                    </a:lnR>
                    <a:lnT>
                      <a:noFill/>
                    </a:lnT>
                    <a:lnB>
                      <a:noFill/>
                    </a:lnB>
                    <a:noFill/>
                  </a:tcPr>
                </a:tc>
                <a:extLst>
                  <a:ext uri="{0D108BD9-81ED-4DB2-BD59-A6C34878D82A}">
                    <a16:rowId xmlns:a16="http://schemas.microsoft.com/office/drawing/2014/main" val="2191444239"/>
                  </a:ext>
                </a:extLst>
              </a:tr>
              <a:tr h="0">
                <a:tc>
                  <a:txBody>
                    <a:bodyPr/>
                    <a:lstStyle/>
                    <a:p>
                      <a:pPr>
                        <a:buNone/>
                      </a:pPr>
                      <a:r>
                        <a:rPr lang="en-IN" b="1"/>
                        <a:t>SQLite</a:t>
                      </a:r>
                      <a:endParaRPr lang="en-IN"/>
                    </a:p>
                  </a:txBody>
                  <a:tcPr anchor="ctr">
                    <a:lnL>
                      <a:noFill/>
                    </a:lnL>
                    <a:lnR>
                      <a:noFill/>
                    </a:lnR>
                    <a:lnT>
                      <a:noFill/>
                    </a:lnT>
                    <a:lnB>
                      <a:noFill/>
                    </a:lnB>
                    <a:noFill/>
                  </a:tcPr>
                </a:tc>
                <a:tc>
                  <a:txBody>
                    <a:bodyPr/>
                    <a:lstStyle/>
                    <a:p>
                      <a:pPr>
                        <a:buNone/>
                      </a:pPr>
                      <a:r>
                        <a:rPr lang="en-US"/>
                        <a:t>Extracting active user data using SQL queries</a:t>
                      </a:r>
                    </a:p>
                  </a:txBody>
                  <a:tcPr anchor="ctr">
                    <a:lnL>
                      <a:noFill/>
                    </a:lnL>
                    <a:lnR>
                      <a:noFill/>
                    </a:lnR>
                    <a:lnT>
                      <a:noFill/>
                    </a:lnT>
                    <a:lnB>
                      <a:noFill/>
                    </a:lnB>
                    <a:noFill/>
                  </a:tcPr>
                </a:tc>
                <a:extLst>
                  <a:ext uri="{0D108BD9-81ED-4DB2-BD59-A6C34878D82A}">
                    <a16:rowId xmlns:a16="http://schemas.microsoft.com/office/drawing/2014/main" val="414130403"/>
                  </a:ext>
                </a:extLst>
              </a:tr>
              <a:tr h="0">
                <a:tc>
                  <a:txBody>
                    <a:bodyPr/>
                    <a:lstStyle/>
                    <a:p>
                      <a:pPr>
                        <a:buNone/>
                      </a:pPr>
                      <a:r>
                        <a:rPr lang="en-IN" b="1"/>
                        <a:t>Regular Expressions (Regex)</a:t>
                      </a:r>
                      <a:endParaRPr lang="en-IN"/>
                    </a:p>
                  </a:txBody>
                  <a:tcPr anchor="ctr">
                    <a:lnL>
                      <a:noFill/>
                    </a:lnL>
                    <a:lnR>
                      <a:noFill/>
                    </a:lnR>
                    <a:lnT>
                      <a:noFill/>
                    </a:lnT>
                    <a:lnB>
                      <a:noFill/>
                    </a:lnB>
                    <a:noFill/>
                  </a:tcPr>
                </a:tc>
                <a:tc>
                  <a:txBody>
                    <a:bodyPr/>
                    <a:lstStyle/>
                    <a:p>
                      <a:pPr>
                        <a:buNone/>
                      </a:pPr>
                      <a:r>
                        <a:rPr lang="en-IN"/>
                        <a:t>Parsing unstructured server log data</a:t>
                      </a:r>
                    </a:p>
                  </a:txBody>
                  <a:tcPr anchor="ctr">
                    <a:lnL>
                      <a:noFill/>
                    </a:lnL>
                    <a:lnR>
                      <a:noFill/>
                    </a:lnR>
                    <a:lnT>
                      <a:noFill/>
                    </a:lnT>
                    <a:lnB>
                      <a:noFill/>
                    </a:lnB>
                    <a:noFill/>
                  </a:tcPr>
                </a:tc>
                <a:extLst>
                  <a:ext uri="{0D108BD9-81ED-4DB2-BD59-A6C34878D82A}">
                    <a16:rowId xmlns:a16="http://schemas.microsoft.com/office/drawing/2014/main" val="3713463283"/>
                  </a:ext>
                </a:extLst>
              </a:tr>
              <a:tr h="0">
                <a:tc>
                  <a:txBody>
                    <a:bodyPr/>
                    <a:lstStyle/>
                    <a:p>
                      <a:pPr>
                        <a:buNone/>
                      </a:pPr>
                      <a:r>
                        <a:rPr lang="en-IN" b="1"/>
                        <a:t>Matplotlib</a:t>
                      </a:r>
                      <a:endParaRPr lang="en-IN"/>
                    </a:p>
                  </a:txBody>
                  <a:tcPr anchor="ctr">
                    <a:lnL>
                      <a:noFill/>
                    </a:lnL>
                    <a:lnR>
                      <a:noFill/>
                    </a:lnR>
                    <a:lnT>
                      <a:noFill/>
                    </a:lnT>
                    <a:lnB>
                      <a:noFill/>
                    </a:lnB>
                    <a:noFill/>
                  </a:tcPr>
                </a:tc>
                <a:tc>
                  <a:txBody>
                    <a:bodyPr/>
                    <a:lstStyle/>
                    <a:p>
                      <a:pPr>
                        <a:buNone/>
                      </a:pPr>
                      <a:r>
                        <a:rPr lang="en-IN"/>
                        <a:t>Data visualization during analysis</a:t>
                      </a:r>
                    </a:p>
                  </a:txBody>
                  <a:tcPr anchor="ctr">
                    <a:lnL>
                      <a:noFill/>
                    </a:lnL>
                    <a:lnR>
                      <a:noFill/>
                    </a:lnR>
                    <a:lnT>
                      <a:noFill/>
                    </a:lnT>
                    <a:lnB>
                      <a:noFill/>
                    </a:lnB>
                    <a:noFill/>
                  </a:tcPr>
                </a:tc>
                <a:extLst>
                  <a:ext uri="{0D108BD9-81ED-4DB2-BD59-A6C34878D82A}">
                    <a16:rowId xmlns:a16="http://schemas.microsoft.com/office/drawing/2014/main" val="3859644486"/>
                  </a:ext>
                </a:extLst>
              </a:tr>
              <a:tr h="0">
                <a:tc>
                  <a:txBody>
                    <a:bodyPr/>
                    <a:lstStyle/>
                    <a:p>
                      <a:pPr>
                        <a:buNone/>
                      </a:pPr>
                      <a:r>
                        <a:rPr lang="en-IN" b="1"/>
                        <a:t>Power BI</a:t>
                      </a:r>
                      <a:endParaRPr lang="en-IN"/>
                    </a:p>
                  </a:txBody>
                  <a:tcPr anchor="ctr">
                    <a:lnL>
                      <a:noFill/>
                    </a:lnL>
                    <a:lnR>
                      <a:noFill/>
                    </a:lnR>
                    <a:lnT>
                      <a:noFill/>
                    </a:lnT>
                    <a:lnB>
                      <a:noFill/>
                    </a:lnB>
                    <a:noFill/>
                  </a:tcPr>
                </a:tc>
                <a:tc>
                  <a:txBody>
                    <a:bodyPr/>
                    <a:lstStyle/>
                    <a:p>
                      <a:pPr>
                        <a:buNone/>
                      </a:pPr>
                      <a:r>
                        <a:rPr lang="en-US" dirty="0"/>
                        <a:t>Interactive dashboard creation and business reporting</a:t>
                      </a:r>
                    </a:p>
                  </a:txBody>
                  <a:tcPr anchor="ctr">
                    <a:lnL>
                      <a:noFill/>
                    </a:lnL>
                    <a:lnR>
                      <a:noFill/>
                    </a:lnR>
                    <a:lnT>
                      <a:noFill/>
                    </a:lnT>
                    <a:lnB>
                      <a:noFill/>
                    </a:lnB>
                    <a:noFill/>
                  </a:tcPr>
                </a:tc>
                <a:extLst>
                  <a:ext uri="{0D108BD9-81ED-4DB2-BD59-A6C34878D82A}">
                    <a16:rowId xmlns:a16="http://schemas.microsoft.com/office/drawing/2014/main" val="841762650"/>
                  </a:ext>
                </a:extLst>
              </a:tr>
            </a:tbl>
          </a:graphicData>
        </a:graphic>
      </p:graphicFrame>
      <p:sp>
        <p:nvSpPr>
          <p:cNvPr id="4" name="Rectangle 2">
            <a:extLst>
              <a:ext uri="{FF2B5EF4-FFF2-40B4-BE49-F238E27FC236}">
                <a16:creationId xmlns:a16="http://schemas.microsoft.com/office/drawing/2014/main" id="{72871BB8-8802-41E6-F15A-9FA54CF8EB6E}"/>
              </a:ext>
            </a:extLst>
          </p:cNvPr>
          <p:cNvSpPr>
            <a:spLocks noChangeArrowheads="1"/>
          </p:cNvSpPr>
          <p:nvPr/>
        </p:nvSpPr>
        <p:spPr bwMode="auto">
          <a:xfrm flipV="1">
            <a:off x="819265" y="2415066"/>
            <a:ext cx="8596312" cy="59323"/>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7157D220-019C-6564-BD7C-5FF6CA2D9A8A}"/>
              </a:ext>
            </a:extLst>
          </p:cNvPr>
          <p:cNvSpPr txBox="1"/>
          <p:nvPr/>
        </p:nvSpPr>
        <p:spPr>
          <a:xfrm>
            <a:off x="819265" y="597758"/>
            <a:ext cx="6103854" cy="461665"/>
          </a:xfrm>
          <a:prstGeom prst="rect">
            <a:avLst/>
          </a:prstGeom>
          <a:noFill/>
        </p:spPr>
        <p:txBody>
          <a:bodyPr wrap="square">
            <a:spAutoFit/>
          </a:bodyPr>
          <a:lstStyle/>
          <a:p>
            <a:r>
              <a:rPr lang="en-IN" sz="2400" b="1" dirty="0">
                <a:latin typeface="Arial" panose="020B0604020202020204" pitchFamily="34" charset="0"/>
                <a:cs typeface="Arial" panose="020B0604020202020204" pitchFamily="34" charset="0"/>
              </a:rPr>
              <a:t>Tools &amp; Technologies Used</a:t>
            </a:r>
          </a:p>
        </p:txBody>
      </p:sp>
    </p:spTree>
    <p:extLst>
      <p:ext uri="{BB962C8B-B14F-4D97-AF65-F5344CB8AC3E}">
        <p14:creationId xmlns:p14="http://schemas.microsoft.com/office/powerpoint/2010/main" val="2993334761"/>
      </p:ext>
    </p:extLst>
  </p:cSld>
  <p:clrMapOvr>
    <a:masterClrMapping/>
  </p:clrMapOvr>
  <mc:AlternateContent xmlns:mc="http://schemas.openxmlformats.org/markup-compatibility/2006" xmlns:p14="http://schemas.microsoft.com/office/powerpoint/2010/main">
    <mc:Choice Requires="p14">
      <p:transition spd="slow" p14:dur="2000" advTm="26936"/>
    </mc:Choice>
    <mc:Fallback xmlns="">
      <p:transition spd="slow" advTm="2693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84C21A-9751-1ADF-DD9D-BB51F0596120}"/>
              </a:ext>
            </a:extLst>
          </p:cNvPr>
          <p:cNvSpPr txBox="1"/>
          <p:nvPr/>
        </p:nvSpPr>
        <p:spPr>
          <a:xfrm>
            <a:off x="770641" y="646357"/>
            <a:ext cx="6103854" cy="2862322"/>
          </a:xfrm>
          <a:prstGeom prst="rect">
            <a:avLst/>
          </a:prstGeom>
          <a:noFill/>
        </p:spPr>
        <p:txBody>
          <a:bodyPr wrap="square">
            <a:spAutoFit/>
          </a:bodyPr>
          <a:lstStyle/>
          <a:p>
            <a:pPr>
              <a:buNone/>
            </a:pPr>
            <a:r>
              <a:rPr lang="en-IN" sz="2000" b="1" dirty="0">
                <a:latin typeface="Arial" panose="020B0604020202020204" pitchFamily="34" charset="0"/>
                <a:cs typeface="Arial" panose="020B0604020202020204" pitchFamily="34" charset="0"/>
              </a:rPr>
              <a:t>Key Techniques Applied</a:t>
            </a:r>
          </a:p>
          <a:p>
            <a:pPr>
              <a:buNone/>
            </a:pPr>
            <a:endParaRPr lang="en-IN"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SQL Queries for Data Extraction </a:t>
            </a: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Regular Expressions (Regex) </a:t>
            </a: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Data Cleaning &amp; Preprocessing </a:t>
            </a: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Data Integration &amp; Merging </a:t>
            </a: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Missing Value Handling (Forward Fill) </a:t>
            </a: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Revenue Calculation </a:t>
            </a:r>
          </a:p>
          <a:p>
            <a:pPr>
              <a:buFont typeface="Arial" panose="020B0604020202020204" pitchFamily="34" charset="0"/>
              <a:buChar char="•"/>
            </a:pPr>
            <a:r>
              <a:rPr lang="en-IN" sz="2000" dirty="0">
                <a:latin typeface="Arial" panose="020B0604020202020204" pitchFamily="34" charset="0"/>
                <a:cs typeface="Arial" panose="020B0604020202020204" pitchFamily="34" charset="0"/>
              </a:rPr>
              <a:t>Interactive Dashboard Design </a:t>
            </a:r>
          </a:p>
        </p:txBody>
      </p:sp>
    </p:spTree>
    <p:extLst>
      <p:ext uri="{BB962C8B-B14F-4D97-AF65-F5344CB8AC3E}">
        <p14:creationId xmlns:p14="http://schemas.microsoft.com/office/powerpoint/2010/main" val="3190921795"/>
      </p:ext>
    </p:extLst>
  </p:cSld>
  <p:clrMapOvr>
    <a:masterClrMapping/>
  </p:clrMapOvr>
  <mc:AlternateContent xmlns:mc="http://schemas.openxmlformats.org/markup-compatibility/2006" xmlns:p14="http://schemas.microsoft.com/office/powerpoint/2010/main">
    <mc:Choice Requires="p14">
      <p:transition spd="slow" p14:dur="2000" advTm="1299"/>
    </mc:Choice>
    <mc:Fallback xmlns="">
      <p:transition spd="slow" advTm="129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86E86A-FCBF-41A1-D7F2-67C583D66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264" y="943178"/>
            <a:ext cx="5440047" cy="2775695"/>
          </a:xfrm>
          <a:prstGeom prst="rect">
            <a:avLst/>
          </a:prstGeom>
        </p:spPr>
      </p:pic>
      <p:pic>
        <p:nvPicPr>
          <p:cNvPr id="3" name="Picture 2">
            <a:extLst>
              <a:ext uri="{FF2B5EF4-FFF2-40B4-BE49-F238E27FC236}">
                <a16:creationId xmlns:a16="http://schemas.microsoft.com/office/drawing/2014/main" id="{EF044A11-4058-7E47-DAB5-04A454884F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4494" y="803742"/>
            <a:ext cx="5299827" cy="2775695"/>
          </a:xfrm>
          <a:prstGeom prst="rect">
            <a:avLst/>
          </a:prstGeom>
        </p:spPr>
      </p:pic>
      <p:pic>
        <p:nvPicPr>
          <p:cNvPr id="5" name="Picture 4">
            <a:extLst>
              <a:ext uri="{FF2B5EF4-FFF2-40B4-BE49-F238E27FC236}">
                <a16:creationId xmlns:a16="http://schemas.microsoft.com/office/drawing/2014/main" id="{11CACBA9-8E01-8BB6-3B41-C58976EC7E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449" y="3845990"/>
            <a:ext cx="5250730" cy="2849642"/>
          </a:xfrm>
          <a:prstGeom prst="rect">
            <a:avLst/>
          </a:prstGeom>
        </p:spPr>
      </p:pic>
      <p:pic>
        <p:nvPicPr>
          <p:cNvPr id="7" name="Picture 6">
            <a:extLst>
              <a:ext uri="{FF2B5EF4-FFF2-40B4-BE49-F238E27FC236}">
                <a16:creationId xmlns:a16="http://schemas.microsoft.com/office/drawing/2014/main" id="{DEC4182C-4834-7C09-D484-2F3F4FD68C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9336" y="3693361"/>
            <a:ext cx="5602663" cy="3002271"/>
          </a:xfrm>
          <a:prstGeom prst="rect">
            <a:avLst/>
          </a:prstGeom>
        </p:spPr>
      </p:pic>
      <p:sp>
        <p:nvSpPr>
          <p:cNvPr id="10" name="TextBox 9">
            <a:extLst>
              <a:ext uri="{FF2B5EF4-FFF2-40B4-BE49-F238E27FC236}">
                <a16:creationId xmlns:a16="http://schemas.microsoft.com/office/drawing/2014/main" id="{45027672-34C6-6DAC-3D82-B5A73D9096E1}"/>
              </a:ext>
            </a:extLst>
          </p:cNvPr>
          <p:cNvSpPr txBox="1"/>
          <p:nvPr/>
        </p:nvSpPr>
        <p:spPr>
          <a:xfrm>
            <a:off x="387679" y="0"/>
            <a:ext cx="6103854" cy="892552"/>
          </a:xfrm>
          <a:prstGeom prst="rect">
            <a:avLst/>
          </a:prstGeom>
          <a:noFill/>
        </p:spPr>
        <p:txBody>
          <a:bodyPr wrap="square">
            <a:spAutoFit/>
          </a:bodyPr>
          <a:lstStyle/>
          <a:p>
            <a:r>
              <a:rPr lang="en-IN" sz="1800" b="1" dirty="0">
                <a:latin typeface="Arial" panose="020B0604020202020204" pitchFamily="34" charset="0"/>
                <a:cs typeface="Arial" panose="020B0604020202020204" pitchFamily="34" charset="0"/>
              </a:rPr>
              <a:t>Project Dashboard &amp; Results</a:t>
            </a:r>
          </a:p>
          <a:p>
            <a:endParaRPr lang="en-IN" sz="1800" b="1"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Jupyter Notebook</a:t>
            </a:r>
          </a:p>
        </p:txBody>
      </p:sp>
    </p:spTree>
    <p:extLst>
      <p:ext uri="{BB962C8B-B14F-4D97-AF65-F5344CB8AC3E}">
        <p14:creationId xmlns:p14="http://schemas.microsoft.com/office/powerpoint/2010/main" val="3405508616"/>
      </p:ext>
    </p:extLst>
  </p:cSld>
  <p:clrMapOvr>
    <a:masterClrMapping/>
  </p:clrMapOvr>
  <mc:AlternateContent xmlns:mc="http://schemas.openxmlformats.org/markup-compatibility/2006" xmlns:p14="http://schemas.microsoft.com/office/powerpoint/2010/main">
    <mc:Choice Requires="p14">
      <p:transition spd="slow" p14:dur="2000" advTm="3527"/>
    </mc:Choice>
    <mc:Fallback xmlns="">
      <p:transition spd="slow" advTm="352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0A86FF-F181-1157-852F-41FFEDBFA6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2837" y="3554322"/>
            <a:ext cx="5722070" cy="3303678"/>
          </a:xfrm>
          <a:prstGeom prst="rect">
            <a:avLst/>
          </a:prstGeom>
        </p:spPr>
      </p:pic>
      <p:pic>
        <p:nvPicPr>
          <p:cNvPr id="5" name="Picture 4">
            <a:extLst>
              <a:ext uri="{FF2B5EF4-FFF2-40B4-BE49-F238E27FC236}">
                <a16:creationId xmlns:a16="http://schemas.microsoft.com/office/drawing/2014/main" id="{DC3E41FD-48C8-BD65-E27E-66DBD21AC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72759"/>
            <a:ext cx="5827725" cy="3122874"/>
          </a:xfrm>
          <a:prstGeom prst="rect">
            <a:avLst/>
          </a:prstGeom>
        </p:spPr>
      </p:pic>
      <p:pic>
        <p:nvPicPr>
          <p:cNvPr id="7" name="Picture 6">
            <a:extLst>
              <a:ext uri="{FF2B5EF4-FFF2-40B4-BE49-F238E27FC236}">
                <a16:creationId xmlns:a16="http://schemas.microsoft.com/office/drawing/2014/main" id="{12722505-EDF7-F44D-1247-6725B9A51A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3041"/>
            <a:ext cx="5828907" cy="3170637"/>
          </a:xfrm>
          <a:prstGeom prst="rect">
            <a:avLst/>
          </a:prstGeom>
        </p:spPr>
      </p:pic>
      <p:pic>
        <p:nvPicPr>
          <p:cNvPr id="11" name="Picture 10">
            <a:extLst>
              <a:ext uri="{FF2B5EF4-FFF2-40B4-BE49-F238E27FC236}">
                <a16:creationId xmlns:a16="http://schemas.microsoft.com/office/drawing/2014/main" id="{C8C6B108-189B-EDB8-5237-10AC733D37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7093" y="218984"/>
            <a:ext cx="5722070" cy="3066257"/>
          </a:xfrm>
          <a:prstGeom prst="rect">
            <a:avLst/>
          </a:prstGeom>
        </p:spPr>
      </p:pic>
    </p:spTree>
    <p:extLst>
      <p:ext uri="{BB962C8B-B14F-4D97-AF65-F5344CB8AC3E}">
        <p14:creationId xmlns:p14="http://schemas.microsoft.com/office/powerpoint/2010/main" val="57311970"/>
      </p:ext>
    </p:extLst>
  </p:cSld>
  <p:clrMapOvr>
    <a:masterClrMapping/>
  </p:clrMapOvr>
  <mc:AlternateContent xmlns:mc="http://schemas.openxmlformats.org/markup-compatibility/2006" xmlns:p14="http://schemas.microsoft.com/office/powerpoint/2010/main">
    <mc:Choice Requires="p14">
      <p:transition spd="slow" p14:dur="2000" advTm="2791"/>
    </mc:Choice>
    <mc:Fallback xmlns="">
      <p:transition spd="slow" advTm="279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69E17C-AE2B-FE85-F05A-A70048360B5A}"/>
              </a:ext>
            </a:extLst>
          </p:cNvPr>
          <p:cNvSpPr txBox="1"/>
          <p:nvPr/>
        </p:nvSpPr>
        <p:spPr>
          <a:xfrm>
            <a:off x="348792" y="324380"/>
            <a:ext cx="6563409" cy="769441"/>
          </a:xfrm>
          <a:prstGeom prst="rect">
            <a:avLst/>
          </a:prstGeom>
          <a:noFill/>
        </p:spPr>
        <p:txBody>
          <a:bodyPr wrap="square">
            <a:spAutoFit/>
          </a:bodyPr>
          <a:lstStyle/>
          <a:p>
            <a:endParaRPr lang="en-IN" sz="24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Power BI Dashboard</a:t>
            </a:r>
          </a:p>
        </p:txBody>
      </p:sp>
      <p:pic>
        <p:nvPicPr>
          <p:cNvPr id="5" name="Picture 4">
            <a:extLst>
              <a:ext uri="{FF2B5EF4-FFF2-40B4-BE49-F238E27FC236}">
                <a16:creationId xmlns:a16="http://schemas.microsoft.com/office/drawing/2014/main" id="{496B4D1B-C1FD-A062-24F2-2B3BEF9F0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792" y="1630838"/>
            <a:ext cx="10812544" cy="4989528"/>
          </a:xfrm>
          <a:prstGeom prst="rect">
            <a:avLst/>
          </a:prstGeom>
        </p:spPr>
      </p:pic>
    </p:spTree>
    <p:extLst>
      <p:ext uri="{BB962C8B-B14F-4D97-AF65-F5344CB8AC3E}">
        <p14:creationId xmlns:p14="http://schemas.microsoft.com/office/powerpoint/2010/main" val="3495249013"/>
      </p:ext>
    </p:extLst>
  </p:cSld>
  <p:clrMapOvr>
    <a:masterClrMapping/>
  </p:clrMapOvr>
  <mc:AlternateContent xmlns:mc="http://schemas.openxmlformats.org/markup-compatibility/2006" xmlns:p14="http://schemas.microsoft.com/office/powerpoint/2010/main">
    <mc:Choice Requires="p14">
      <p:transition spd="slow" p14:dur="2000" advTm="20310"/>
    </mc:Choice>
    <mc:Fallback xmlns="">
      <p:transition spd="slow" advTm="2031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758B36-5756-995C-A303-90E28A30B7B2}"/>
              </a:ext>
            </a:extLst>
          </p:cNvPr>
          <p:cNvSpPr txBox="1"/>
          <p:nvPr/>
        </p:nvSpPr>
        <p:spPr>
          <a:xfrm>
            <a:off x="631596" y="278020"/>
            <a:ext cx="10312924" cy="6555641"/>
          </a:xfrm>
          <a:prstGeom prst="rect">
            <a:avLst/>
          </a:prstGeom>
          <a:noFill/>
        </p:spPr>
        <p:txBody>
          <a:bodyPr wrap="square">
            <a:spAutoFit/>
          </a:bodyPr>
          <a:lstStyle/>
          <a:p>
            <a:pPr>
              <a:buNone/>
            </a:pPr>
            <a:r>
              <a:rPr lang="en-US" sz="2000" b="1" dirty="0">
                <a:latin typeface="Arial" panose="020B0604020202020204" pitchFamily="34" charset="0"/>
                <a:cs typeface="Arial" panose="020B0604020202020204" pitchFamily="34" charset="0"/>
              </a:rPr>
              <a:t>Project Report</a:t>
            </a:r>
          </a:p>
          <a:p>
            <a:pPr>
              <a:buNone/>
            </a:pPr>
            <a:endParaRPr lang="en-US" sz="2000" b="1" dirty="0">
              <a:latin typeface="Arial" panose="020B0604020202020204" pitchFamily="34" charset="0"/>
              <a:cs typeface="Arial" panose="020B0604020202020204" pitchFamily="34" charset="0"/>
            </a:endParaRPr>
          </a:p>
          <a:p>
            <a:pPr>
              <a:buNone/>
            </a:pPr>
            <a:r>
              <a:rPr lang="en-US" sz="2000" dirty="0">
                <a:latin typeface="Arial" panose="020B0604020202020204" pitchFamily="34" charset="0"/>
                <a:cs typeface="Arial" panose="020B0604020202020204" pitchFamily="34" charset="0"/>
              </a:rPr>
              <a:t>This project focused on integrating and analyzing financial data from multiple enterprise data sources. The workflow involved extracting active user records from a SQL database, processing unstructured server logs using Regular Expressions (Regex), handling missing exchange rate values, and merging all datasets into a single, analysis-ready dataset. The final dataset was then used to build an interactive Power BI dashboard that provides meaningful financial insights for decision-making.</a:t>
            </a:r>
          </a:p>
          <a:p>
            <a:pPr>
              <a:buNone/>
            </a:pP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a:p>
            <a:pPr>
              <a:buNone/>
            </a:pPr>
            <a:r>
              <a:rPr lang="en-US" sz="2000" b="1" dirty="0">
                <a:latin typeface="Arial" panose="020B0604020202020204" pitchFamily="34" charset="0"/>
                <a:cs typeface="Arial" panose="020B0604020202020204" pitchFamily="34" charset="0"/>
              </a:rPr>
              <a:t>Key Results</a:t>
            </a:r>
          </a:p>
          <a:p>
            <a:pPr>
              <a:buNone/>
            </a:pP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Successfully extracted the latest active user records from the SQL database.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Processed and cleaned server log data using Regex.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Handled missing weekend exchange rates using forward fill.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Merged multiple datasets into a unified dataset.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Calculated </a:t>
            </a:r>
            <a:r>
              <a:rPr lang="en-US" sz="2000" b="1" dirty="0">
                <a:latin typeface="Arial" panose="020B0604020202020204" pitchFamily="34" charset="0"/>
                <a:cs typeface="Arial" panose="020B0604020202020204" pitchFamily="34" charset="0"/>
              </a:rPr>
              <a:t>USD Revenue</a:t>
            </a:r>
            <a:r>
              <a:rPr lang="en-US" sz="2000" dirty="0">
                <a:latin typeface="Arial" panose="020B0604020202020204" pitchFamily="34" charset="0"/>
                <a:cs typeface="Arial" panose="020B0604020202020204" pitchFamily="34" charset="0"/>
              </a:rPr>
              <a:t> from Euro transaction values.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Built an interactive Power BI dashboard to visualize: </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Total USD Revenue </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Monthly Revenue Trend </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Top 5 Most Valuable Customers</a:t>
            </a:r>
          </a:p>
        </p:txBody>
      </p:sp>
    </p:spTree>
    <p:extLst>
      <p:ext uri="{BB962C8B-B14F-4D97-AF65-F5344CB8AC3E}">
        <p14:creationId xmlns:p14="http://schemas.microsoft.com/office/powerpoint/2010/main" val="3724190820"/>
      </p:ext>
    </p:extLst>
  </p:cSld>
  <p:clrMapOvr>
    <a:masterClrMapping/>
  </p:clrMapOvr>
  <mc:AlternateContent xmlns:mc="http://schemas.openxmlformats.org/markup-compatibility/2006" xmlns:p14="http://schemas.microsoft.com/office/powerpoint/2010/main">
    <mc:Choice Requires="p14">
      <p:transition spd="slow" p14:dur="2000" advTm="11340"/>
    </mc:Choice>
    <mc:Fallback xmlns="">
      <p:transition spd="slow" advTm="1134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4A2A00-9BE8-5BD5-923B-4D8A36DF3887}"/>
              </a:ext>
            </a:extLst>
          </p:cNvPr>
          <p:cNvSpPr txBox="1"/>
          <p:nvPr/>
        </p:nvSpPr>
        <p:spPr>
          <a:xfrm>
            <a:off x="490193" y="521651"/>
            <a:ext cx="10143241" cy="5324535"/>
          </a:xfrm>
          <a:prstGeom prst="rect">
            <a:avLst/>
          </a:prstGeom>
          <a:noFill/>
        </p:spPr>
        <p:txBody>
          <a:bodyPr wrap="square">
            <a:spAutoFit/>
          </a:bodyPr>
          <a:lstStyle/>
          <a:p>
            <a:pPr>
              <a:buNone/>
            </a:pPr>
            <a:r>
              <a:rPr lang="en-US" sz="2000" b="1" dirty="0">
                <a:latin typeface="Arial" panose="020B0604020202020204" pitchFamily="34" charset="0"/>
                <a:cs typeface="Arial" panose="020B0604020202020204" pitchFamily="34" charset="0"/>
              </a:rPr>
              <a:t>Conclusion</a:t>
            </a:r>
          </a:p>
          <a:p>
            <a:pPr>
              <a:buNone/>
            </a:pPr>
            <a:endParaRPr lang="en-US" sz="2000" b="1" dirty="0">
              <a:latin typeface="Arial" panose="020B0604020202020204" pitchFamily="34" charset="0"/>
              <a:cs typeface="Arial" panose="020B0604020202020204" pitchFamily="34" charset="0"/>
            </a:endParaRPr>
          </a:p>
          <a:p>
            <a:pPr>
              <a:buNone/>
            </a:pPr>
            <a:r>
              <a:rPr lang="en-US" sz="2000" dirty="0">
                <a:latin typeface="Arial" panose="020B0604020202020204" pitchFamily="34" charset="0"/>
                <a:cs typeface="Arial" panose="020B0604020202020204" pitchFamily="34" charset="0"/>
              </a:rPr>
              <a:t>This project successfully demonstrated the complete data analytics workflow, from data extraction and cleaning to financial reconciliation and dashboard creation. By integrating data from multiple enterprise sources, the project produced an accurate and analysis-ready dataset. The interactive Power BI dashboard enables users to monitor revenue trends, identify top customers, and support data-driven business decisions.</a:t>
            </a:r>
          </a:p>
          <a:p>
            <a:pPr>
              <a:buNone/>
            </a:pPr>
            <a:endParaRPr lang="en-US" sz="2000" dirty="0">
              <a:latin typeface="Arial" panose="020B0604020202020204" pitchFamily="34" charset="0"/>
              <a:cs typeface="Arial" panose="020B0604020202020204" pitchFamily="34" charset="0"/>
            </a:endParaRPr>
          </a:p>
          <a:p>
            <a:pPr>
              <a:buNone/>
            </a:pPr>
            <a:r>
              <a:rPr lang="en-US" sz="2000" b="1" dirty="0">
                <a:latin typeface="Arial" panose="020B0604020202020204" pitchFamily="34" charset="0"/>
                <a:cs typeface="Arial" panose="020B0604020202020204" pitchFamily="34" charset="0"/>
              </a:rPr>
              <a:t>Key Learning Outcomes</a:t>
            </a:r>
          </a:p>
          <a:p>
            <a:pPr>
              <a:buNone/>
            </a:pP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SQL Data Extraction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Data Cleaning &amp; Preprocessing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Regular Expressions (Regex)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Data Integration &amp; Merging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Financial Data Analysis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Power BI Dashboard Development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Data Visualization &amp; Business Reporting</a:t>
            </a:r>
          </a:p>
        </p:txBody>
      </p:sp>
    </p:spTree>
    <p:extLst>
      <p:ext uri="{BB962C8B-B14F-4D97-AF65-F5344CB8AC3E}">
        <p14:creationId xmlns:p14="http://schemas.microsoft.com/office/powerpoint/2010/main" val="2759205239"/>
      </p:ext>
    </p:extLst>
  </p:cSld>
  <p:clrMapOvr>
    <a:masterClrMapping/>
  </p:clrMapOvr>
  <mc:AlternateContent xmlns:mc="http://schemas.openxmlformats.org/markup-compatibility/2006" xmlns:p14="http://schemas.microsoft.com/office/powerpoint/2010/main">
    <mc:Choice Requires="p14">
      <p:transition spd="slow" p14:dur="2000" advTm="9569"/>
    </mc:Choice>
    <mc:Fallback xmlns="">
      <p:transition spd="slow" advTm="9569"/>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123</TotalTime>
  <Words>645</Words>
  <Application>Microsoft Office PowerPoint</Application>
  <PresentationFormat>Widescreen</PresentationFormat>
  <Paragraphs>104</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Trebuchet MS</vt:lpstr>
      <vt:lpstr>Wingdings 3</vt:lpstr>
      <vt:lpstr>Facet</vt:lpstr>
      <vt:lpstr>Enterprise Data Architecture &amp; Reconciliation  Data Analytics Internship Project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Meenal Upadhyay</dc:creator>
  <cp:lastModifiedBy>Meenal Upadhyay</cp:lastModifiedBy>
  <cp:revision>3</cp:revision>
  <dcterms:created xsi:type="dcterms:W3CDTF">2026-08-04T12:21:34Z</dcterms:created>
  <dcterms:modified xsi:type="dcterms:W3CDTF">2026-08-11T06:02:23Z</dcterms:modified>
</cp:coreProperties>
</file>